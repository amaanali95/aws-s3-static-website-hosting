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8" r:id="rId3"/>
    <p:sldId id="258" r:id="rId4"/>
    <p:sldId id="257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69" r:id="rId14"/>
    <p:sldId id="265" r:id="rId15"/>
    <p:sldId id="271" r:id="rId16"/>
    <p:sldId id="272" r:id="rId17"/>
    <p:sldId id="266" r:id="rId18"/>
    <p:sldId id="267" r:id="rId19"/>
  </p:sldIdLst>
  <p:sldSz cx="12192000" cy="6858000"/>
  <p:notesSz cx="6858000" cy="12192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EEF4FF"/>
    <a:srgbClr val="F8FBFF"/>
    <a:srgbClr val="CCECFF"/>
    <a:srgbClr val="0000FF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6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4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8800" spc="-12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2" y="4206876"/>
            <a:ext cx="9228201" cy="1645920"/>
          </a:xfrm>
        </p:spPr>
        <p:txBody>
          <a:bodyPr>
            <a:norm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3355848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8800" b="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4204209"/>
            <a:ext cx="9226296" cy="1645920"/>
          </a:xfrm>
        </p:spPr>
        <p:txBody>
          <a:bodyPr anchor="t">
            <a:normAutofit/>
          </a:bodyPr>
          <a:lstStyle>
            <a:lvl1pPr marL="0" indent="0">
              <a:buNone/>
              <a:defRPr sz="320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0" y="1998134"/>
            <a:ext cx="4663440" cy="376732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220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2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defRPr sz="18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4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7"/>
            <a:ext cx="10780776" cy="613283"/>
          </a:xfrm>
        </p:spPr>
        <p:txBody>
          <a:bodyPr anchor="b">
            <a:normAutofit/>
          </a:bodyPr>
          <a:lstStyle>
            <a:lvl1pPr>
              <a:defRPr sz="32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800"/>
              </a:spcBef>
              <a:buNone/>
              <a:defRPr sz="3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400">
                <a:solidFill>
                  <a:srgbClr val="262626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0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5" y="714375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4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50" cap="all" baseline="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6" y="5876412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300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+mj-lt"/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5400" kern="1200" spc="-12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85000"/>
        </a:lnSpc>
        <a:spcBef>
          <a:spcPts val="13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7345" indent="-3429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54864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2000" i="1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822960" indent="-82296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097280" indent="-109728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15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0017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00200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00225" indent="-228600" algn="l" defTabSz="914400" rtl="0" eaLnBrk="1" latinLnBrk="0" hangingPunct="1">
        <a:lnSpc>
          <a:spcPct val="85000"/>
        </a:lnSpc>
        <a:spcBef>
          <a:spcPts val="600"/>
        </a:spcBef>
        <a:buFont typeface="Arial" panose="020B0604020202020204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9" Type="http://schemas.openxmlformats.org/officeDocument/2006/relationships/notesSlide" Target="../notesSlides/notesSlide4.xml"/><Relationship Id="rId18" Type="http://schemas.openxmlformats.org/officeDocument/2006/relationships/slideLayout" Target="../slideLayouts/slideLayout12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rgbClr val="CCECFF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/>
          <p:cNvSpPr txBox="1">
            <a:spLocks noGrp="1"/>
          </p:cNvSpPr>
          <p:nvPr>
            <p:ph type="title"/>
          </p:nvPr>
        </p:nvSpPr>
        <p:spPr>
          <a:xfrm>
            <a:off x="0" y="-116957"/>
            <a:ext cx="12192000" cy="2225609"/>
          </a:xfrm>
          <a:prstGeom prst="rect">
            <a:avLst/>
          </a:prstGeom>
          <a:gradFill>
            <a:gsLst>
              <a:gs pos="90000">
                <a:schemeClr val="accent1">
                  <a:lumMod val="20000"/>
                  <a:lumOff val="80000"/>
                </a:schemeClr>
              </a:gs>
              <a:gs pos="100000">
                <a:schemeClr val="bg2">
                  <a:lumMod val="20000"/>
                  <a:lumOff val="80000"/>
                </a:schemeClr>
              </a:gs>
              <a:gs pos="4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>
            <a:outerShdw blurRad="50800" dist="50800" dir="5400000" algn="ctr" rotWithShape="0">
              <a:schemeClr val="accent1"/>
            </a:outerShdw>
          </a:effectLst>
        </p:spPr>
        <p:txBody>
          <a:bodyPr vert="horz" wrap="square" lIns="0" tIns="9525" rIns="0" bIns="0" rtlCol="0" anchor="ctr" anchorCtr="0">
            <a:spAutoFit/>
          </a:bodyPr>
          <a:lstStyle/>
          <a:p>
            <a:pPr algn="ctr"/>
            <a:br>
              <a:rPr lang="en-US" sz="2400" dirty="0">
                <a:solidFill>
                  <a:srgbClr val="002060"/>
                </a:solidFill>
              </a:rPr>
            </a:br>
            <a:r>
              <a:rPr lang="en-US" sz="2400" dirty="0">
                <a:solidFill>
                  <a:srgbClr val="2563EB"/>
                </a:solidFill>
              </a:rPr>
              <a:t>  </a:t>
            </a:r>
            <a:r>
              <a:rPr lang="en-US" sz="2800" b="1" dirty="0">
                <a:solidFill>
                  <a:srgbClr val="2563E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VISVESVARAYA TECHNOLOGICAL UNIVERSITY</a:t>
            </a:r>
            <a:br>
              <a:rPr lang="en-US" sz="2400" b="1" dirty="0">
                <a:solidFill>
                  <a:srgbClr val="2563EB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solidFill>
                  <a:schemeClr val="accent2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     </a:t>
            </a:r>
            <a:r>
              <a:rPr lang="en-US" sz="2800" b="1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BHEEMANNA KHANDRE INSTITUTE OF TECHNOLOGY  </a:t>
            </a:r>
            <a:br>
              <a:rPr lang="en-US" sz="2400" b="1" dirty="0">
                <a:solidFill>
                  <a:srgbClr val="FFC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DEPARTMENT OF ELECTONICS &amp; COMMUNICATION ENGINEERING  </a:t>
            </a:r>
            <a:br>
              <a:rPr lang="en-US" sz="2400" b="1" dirty="0">
                <a:latin typeface="Cambria Math" panose="02040503050406030204" pitchFamily="18" charset="0"/>
                <a:ea typeface="Cambria Math" panose="02040503050406030204" pitchFamily="18" charset="0"/>
              </a:rPr>
            </a:br>
            <a:r>
              <a:rPr lang="en-US" sz="20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     BHALKI-585 328  </a:t>
            </a:r>
            <a:br>
              <a:rPr sz="2400" b="1" spc="-8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000" b="1" spc="-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object 5"/>
          <p:cNvSpPr txBox="1"/>
          <p:nvPr/>
        </p:nvSpPr>
        <p:spPr>
          <a:xfrm>
            <a:off x="1369674" y="2210911"/>
            <a:ext cx="9143999" cy="206883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9525" marR="38735" indent="1228090">
              <a:lnSpc>
                <a:spcPts val="2140"/>
              </a:lnSpc>
              <a:spcBef>
                <a:spcPts val="165"/>
              </a:spcBef>
            </a:pPr>
            <a:r>
              <a:rPr lang="en-IN" sz="1900" b="1" spc="-8" dirty="0">
                <a:latin typeface="Times New Roman" panose="02020603050405020304"/>
                <a:cs typeface="Times New Roman" panose="02020603050405020304"/>
              </a:rPr>
              <a:t>                          </a:t>
            </a:r>
            <a:r>
              <a:rPr lang="en-IN" sz="2400" b="1" spc="-8" dirty="0">
                <a:latin typeface="Times New Roman" panose="02020603050405020304"/>
                <a:cs typeface="Times New Roman" panose="02020603050405020304"/>
              </a:rPr>
              <a:t>INTERNSHIP REVIEW</a:t>
            </a:r>
            <a:endParaRPr lang="en-IN" sz="2000" b="1" spc="-8" dirty="0">
              <a:latin typeface="Times New Roman" panose="02020603050405020304"/>
              <a:cs typeface="Times New Roman" panose="02020603050405020304"/>
            </a:endParaRPr>
          </a:p>
          <a:p>
            <a:pPr marL="9525" marR="38735" indent="1228090">
              <a:lnSpc>
                <a:spcPts val="2140"/>
              </a:lnSpc>
              <a:spcBef>
                <a:spcPts val="165"/>
              </a:spcBef>
            </a:pPr>
            <a:r>
              <a:rPr lang="en-IN" sz="2000" b="1" spc="-8" dirty="0">
                <a:latin typeface="Times New Roman" panose="02020603050405020304"/>
                <a:cs typeface="Times New Roman" panose="02020603050405020304"/>
              </a:rPr>
              <a:t>                                            ON</a:t>
            </a:r>
            <a:endParaRPr lang="en-IN" sz="2000" b="1" spc="-8" dirty="0">
              <a:latin typeface="Times New Roman" panose="02020603050405020304"/>
              <a:cs typeface="Times New Roman" panose="02020603050405020304"/>
            </a:endParaRPr>
          </a:p>
          <a:p>
            <a:pPr marL="9525" marR="38735" indent="1228090" algn="l">
              <a:lnSpc>
                <a:spcPts val="2140"/>
              </a:lnSpc>
              <a:spcBef>
                <a:spcPts val="165"/>
              </a:spcBef>
            </a:pPr>
            <a:r>
              <a:rPr lang="en-IN" sz="2400" b="1" spc="-8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 CLOUD AND NETWORK INTERNSHIP</a:t>
            </a:r>
            <a:endParaRPr lang="en-IN" sz="2400" b="1" spc="-8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9525" marR="38735" indent="1228090">
              <a:lnSpc>
                <a:spcPts val="2140"/>
              </a:lnSpc>
              <a:spcBef>
                <a:spcPts val="165"/>
              </a:spcBef>
            </a:pPr>
            <a:r>
              <a:rPr lang="en-IN" sz="2000" b="1" spc="-8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                                           AT</a:t>
            </a:r>
            <a:endParaRPr lang="en-IN" sz="2000" b="1" spc="-8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9525" marR="38735" indent="1228090">
              <a:lnSpc>
                <a:spcPts val="2140"/>
              </a:lnSpc>
              <a:spcBef>
                <a:spcPts val="165"/>
              </a:spcBef>
            </a:pPr>
            <a:r>
              <a:rPr lang="en-IN" sz="2000" b="1" spc="-8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              ROOMAN TECHNOLOGY PVT LTD</a:t>
            </a:r>
            <a:endParaRPr lang="en-IN" sz="2000" b="1" spc="-8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9525" marR="38735" indent="1228090">
              <a:lnSpc>
                <a:spcPts val="2140"/>
              </a:lnSpc>
              <a:spcBef>
                <a:spcPts val="165"/>
              </a:spcBef>
            </a:pPr>
            <a:endParaRPr lang="en-IN" sz="2000" b="1" spc="-8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  <a:p>
            <a:pPr marL="9525" marR="38735" indent="1228090">
              <a:lnSpc>
                <a:spcPts val="2140"/>
              </a:lnSpc>
              <a:spcBef>
                <a:spcPts val="165"/>
              </a:spcBef>
            </a:pPr>
            <a:endParaRPr sz="1900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object 6"/>
          <p:cNvSpPr txBox="1"/>
          <p:nvPr/>
        </p:nvSpPr>
        <p:spPr>
          <a:xfrm>
            <a:off x="3943755" y="3891421"/>
            <a:ext cx="4304489" cy="655320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9525" marR="3810">
              <a:tabLst>
                <a:tab pos="534670" algn="l"/>
                <a:tab pos="862965" algn="l"/>
              </a:tabLst>
            </a:pPr>
            <a:r>
              <a:rPr lang="en-GB" b="1" spc="-8" dirty="0">
                <a:latin typeface="Times New Roman" panose="02020603050405020304"/>
                <a:cs typeface="Times New Roman" panose="02020603050405020304"/>
              </a:rPr>
              <a:t> </a:t>
            </a:r>
            <a:endParaRPr lang="en-GB" b="1" spc="-8" dirty="0">
              <a:latin typeface="Times New Roman" panose="02020603050405020304"/>
              <a:cs typeface="Times New Roman" panose="02020603050405020304"/>
            </a:endParaRPr>
          </a:p>
          <a:p>
            <a:pPr marL="9525" marR="3810">
              <a:tabLst>
                <a:tab pos="534670" algn="l"/>
                <a:tab pos="862965" algn="l"/>
              </a:tabLst>
            </a:pPr>
            <a:r>
              <a:rPr lang="en-IN" altLang="en-GB" sz="2400" b="1" spc="-8" dirty="0">
                <a:latin typeface="Times New Roman" panose="02020603050405020304"/>
                <a:cs typeface="Times New Roman" panose="02020603050405020304"/>
              </a:rPr>
              <a:t>Amaan Ali</a:t>
            </a:r>
            <a:r>
              <a:rPr lang="en-GB" sz="2400" b="1" spc="-8" dirty="0">
                <a:latin typeface="Times New Roman" panose="02020603050405020304"/>
                <a:cs typeface="Times New Roman" panose="02020603050405020304"/>
              </a:rPr>
              <a:t> – (3RB22EC0</a:t>
            </a:r>
            <a:r>
              <a:rPr lang="en-IN" altLang="en-GB" sz="2400" b="1" spc="-8" dirty="0">
                <a:latin typeface="Times New Roman" panose="02020603050405020304"/>
                <a:cs typeface="Times New Roman" panose="02020603050405020304"/>
              </a:rPr>
              <a:t>48</a:t>
            </a:r>
            <a:r>
              <a:rPr lang="en-GB" sz="2000" b="1" spc="-8" dirty="0">
                <a:latin typeface="Times New Roman" panose="02020603050405020304"/>
                <a:cs typeface="Times New Roman" panose="02020603050405020304"/>
              </a:rPr>
              <a:t>)</a:t>
            </a:r>
            <a:endParaRPr lang="en-GB" sz="2000" b="1" spc="-8" dirty="0"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object 7"/>
          <p:cNvSpPr txBox="1"/>
          <p:nvPr/>
        </p:nvSpPr>
        <p:spPr>
          <a:xfrm>
            <a:off x="3980401" y="4634175"/>
            <a:ext cx="3321935" cy="594395"/>
          </a:xfrm>
          <a:prstGeom prst="rect">
            <a:avLst/>
          </a:prstGeom>
        </p:spPr>
        <p:txBody>
          <a:bodyPr vert="horz" wrap="square" lIns="0" tIns="7144" rIns="0" bIns="0" rtlCol="0">
            <a:noAutofit/>
          </a:bodyPr>
          <a:lstStyle/>
          <a:p>
            <a:pPr marL="9525" marR="3810">
              <a:lnSpc>
                <a:spcPct val="101000"/>
              </a:lnSpc>
              <a:spcBef>
                <a:spcPts val="55"/>
              </a:spcBef>
            </a:pPr>
            <a:r>
              <a:rPr lang="en-US" sz="16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     </a:t>
            </a:r>
            <a:r>
              <a:rPr sz="24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Under</a:t>
            </a:r>
            <a:r>
              <a:rPr sz="2400" b="1" spc="-9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the</a:t>
            </a:r>
            <a:r>
              <a:rPr sz="2400" b="1" spc="-1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Guidance</a:t>
            </a:r>
            <a:r>
              <a:rPr lang="en-IN" sz="24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sz="24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of</a:t>
            </a:r>
            <a:r>
              <a:rPr lang="en-US" sz="2400" b="1" dirty="0">
                <a:solidFill>
                  <a:srgbClr val="7030A0"/>
                </a:solidFill>
                <a:latin typeface="Times New Roman" panose="02020603050405020304"/>
                <a:cs typeface="Times New Roman" panose="02020603050405020304"/>
              </a:rPr>
              <a:t>              </a:t>
            </a:r>
            <a:endParaRPr sz="1600" b="1" dirty="0">
              <a:gradFill>
                <a:gsLst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  <a:latin typeface="Times New Roman" panose="02020603050405020304"/>
              <a:cs typeface="Times New Roman" panose="02020603050405020304"/>
            </a:endParaRPr>
          </a:p>
          <a:p>
            <a:pPr marL="9525" marR="3810">
              <a:lnSpc>
                <a:spcPct val="101000"/>
              </a:lnSpc>
              <a:spcBef>
                <a:spcPts val="55"/>
              </a:spcBef>
            </a:pPr>
            <a:r>
              <a:rPr sz="1600" b="1" spc="-3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cs typeface="Times New Roman" panose="02020603050405020304"/>
              </a:rPr>
              <a:t> </a:t>
            </a:r>
            <a:r>
              <a:rPr lang="en-IN" sz="1600" b="1" spc="-31" dirty="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  <a:latin typeface="Times New Roman" panose="02020603050405020304"/>
                <a:cs typeface="Times New Roman" panose="02020603050405020304"/>
              </a:rPr>
              <a:t>         </a:t>
            </a:r>
            <a:r>
              <a:rPr lang="en-IN" sz="1600" b="1" spc="-3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                                                                                           </a:t>
            </a:r>
            <a:endParaRPr lang="en-IN" sz="1600" b="1" spc="-3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4461412" y="3688955"/>
            <a:ext cx="43044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altLang="en-US" sz="2400" dirty="0">
                <a:solidFill>
                  <a:srgbClr val="7030A0"/>
                </a:solidFill>
              </a:rPr>
              <a:t>SUBMITTED BY</a:t>
            </a:r>
            <a:endParaRPr lang="en-IN" altLang="en-US" sz="2400" dirty="0">
              <a:solidFill>
                <a:srgbClr val="7030A0"/>
              </a:solidFill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321882" y="5075707"/>
            <a:ext cx="3604234" cy="1098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525" marR="3810">
              <a:lnSpc>
                <a:spcPct val="101000"/>
              </a:lnSpc>
              <a:spcBef>
                <a:spcPts val="55"/>
              </a:spcBef>
            </a:pPr>
            <a:r>
              <a:rPr lang="en-IN" sz="2400" b="1" spc="-3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  <a:sym typeface="+mn-ea"/>
              </a:rPr>
              <a:t>Internal Guide</a:t>
            </a:r>
            <a:endParaRPr lang="en-IN" sz="2400" b="1" spc="-3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9525" marR="3810">
              <a:lnSpc>
                <a:spcPct val="101000"/>
              </a:lnSpc>
              <a:spcBef>
                <a:spcPts val="55"/>
              </a:spcBef>
            </a:pPr>
            <a:r>
              <a:rPr lang="en-US" sz="2000" b="1" spc="-31" dirty="0">
                <a:latin typeface="Times New Roman" panose="02020603050405020304"/>
                <a:cs typeface="Times New Roman" panose="02020603050405020304"/>
              </a:rPr>
              <a:t>Prof : </a:t>
            </a:r>
            <a:r>
              <a:rPr lang="en-IN" altLang="en-US" sz="2000" b="1" spc="-31" dirty="0">
                <a:latin typeface="Times New Roman" panose="02020603050405020304"/>
                <a:cs typeface="Times New Roman" panose="02020603050405020304"/>
              </a:rPr>
              <a:t>Channabasamma .M</a:t>
            </a:r>
            <a:endParaRPr lang="en-IN" sz="2000" b="1" spc="-31" dirty="0">
              <a:solidFill>
                <a:srgbClr val="FF0000"/>
              </a:solidFill>
              <a:latin typeface="Times New Roman" panose="02020603050405020304"/>
              <a:cs typeface="Times New Roman" panose="02020603050405020304"/>
              <a:sym typeface="+mn-ea"/>
            </a:endParaRPr>
          </a:p>
          <a:p>
            <a:pPr marL="9525" marR="3810">
              <a:lnSpc>
                <a:spcPct val="101000"/>
              </a:lnSpc>
              <a:spcBef>
                <a:spcPts val="55"/>
              </a:spcBef>
            </a:pP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Department</a:t>
            </a:r>
            <a:r>
              <a:rPr sz="2000" b="1" spc="-53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dirty="0">
                <a:latin typeface="Times New Roman" panose="02020603050405020304"/>
                <a:cs typeface="Times New Roman" panose="02020603050405020304"/>
                <a:sym typeface="+mn-ea"/>
              </a:rPr>
              <a:t>of</a:t>
            </a:r>
            <a:r>
              <a:rPr sz="2000" b="1" spc="-41" dirty="0">
                <a:latin typeface="Times New Roman" panose="02020603050405020304"/>
                <a:cs typeface="Times New Roman" panose="02020603050405020304"/>
                <a:sym typeface="+mn-ea"/>
              </a:rPr>
              <a:t> </a:t>
            </a:r>
            <a:r>
              <a:rPr sz="2000" b="1" spc="-19" dirty="0">
                <a:latin typeface="Times New Roman" panose="02020603050405020304"/>
                <a:cs typeface="Times New Roman" panose="02020603050405020304"/>
                <a:sym typeface="+mn-ea"/>
              </a:rPr>
              <a:t>ECE</a:t>
            </a:r>
            <a:endParaRPr lang="en-US" sz="2000" b="1" spc="-19" dirty="0">
              <a:latin typeface="Times New Roman" panose="02020603050405020304"/>
              <a:cs typeface="Times New Roman" panose="02020603050405020304"/>
              <a:sym typeface="+mn-ea"/>
            </a:endParaRPr>
          </a:p>
        </p:txBody>
      </p:sp>
      <p:pic>
        <p:nvPicPr>
          <p:cNvPr id="4" name="object 2"/>
          <p:cNvPicPr/>
          <p:nvPr/>
        </p:nvPicPr>
        <p:blipFill>
          <a:blip r:embed="rId1" cstate="print"/>
          <a:stretch>
            <a:fillRect/>
          </a:stretch>
        </p:blipFill>
        <p:spPr>
          <a:xfrm>
            <a:off x="10759736" y="309226"/>
            <a:ext cx="1285648" cy="1260508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82000"/>
              </a:srgbClr>
            </a:outerShdw>
          </a:effec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904"/>
          <a:stretch>
            <a:fillRect/>
          </a:stretch>
        </p:blipFill>
        <p:spPr bwMode="auto">
          <a:xfrm>
            <a:off x="146621" y="76597"/>
            <a:ext cx="1223053" cy="1725767"/>
          </a:xfrm>
          <a:prstGeom prst="rect">
            <a:avLst/>
          </a:prstGeom>
          <a:noFill/>
          <a:effectLst>
            <a:outerShdw blurRad="50800" dir="4200000" sx="84000" sy="84000" algn="ctr" rotWithShape="0">
              <a:schemeClr val="accent4">
                <a:alpha val="43000"/>
              </a:schemeClr>
            </a:outerShdw>
            <a:softEdge rad="0"/>
          </a:effectLst>
          <a:scene3d>
            <a:camera prst="orthographicFront"/>
            <a:lightRig rig="threePt" dir="t"/>
          </a:scene3d>
          <a:sp3d>
            <a:bevelT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TextBox 17"/>
          <p:cNvSpPr txBox="1"/>
          <p:nvPr/>
        </p:nvSpPr>
        <p:spPr>
          <a:xfrm>
            <a:off x="8735748" y="5075707"/>
            <a:ext cx="2781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spc="-31" dirty="0">
                <a:solidFill>
                  <a:srgbClr val="FF0000"/>
                </a:solidFill>
                <a:latin typeface="Times New Roman" panose="02020603050405020304"/>
                <a:cs typeface="Times New Roman" panose="02020603050405020304"/>
              </a:rPr>
              <a:t>External Guide</a:t>
            </a:r>
            <a:endParaRPr lang="en-US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8265885" y="5519994"/>
            <a:ext cx="6503293" cy="706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Karthik Rao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Designation: Program Manager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r>
              <a:rPr lang="en-US" dirty="0"/>
              <a:t>z</a:t>
            </a: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15" name="TextBox 14"/>
          <p:cNvSpPr txBox="1"/>
          <p:nvPr/>
        </p:nvSpPr>
        <p:spPr>
          <a:xfrm>
            <a:off x="3355" y="1317177"/>
            <a:ext cx="12188952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4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Rooman Technologies Pvt Ltd</a:t>
            </a:r>
            <a:endParaRPr lang="en-US" altLang="en-US" sz="2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reputed training and internship organization established in 1999 that provides skill development, technical training, and internship programs in various technology domains.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Industry: Skill Development &amp; Technical Training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Office: Bangalore, India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Website: </a:t>
            </a:r>
            <a:r>
              <a:rPr lang="en-US" altLang="en-US" sz="2400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https://rooman.net/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2400" b="1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Specializations:</a:t>
            </a:r>
            <a:br>
              <a:rPr sz="2400"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Cloud Computing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Networking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Cyber Security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DevOps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Linux Administration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-47244" y="110583"/>
            <a:ext cx="614172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COMPANY PROFILE</a:t>
            </a:r>
            <a:endParaRPr lang="en-US" sz="2800" dirty="0">
              <a:solidFill>
                <a:schemeClr val="bg1"/>
              </a:solidFill>
            </a:endParaRPr>
          </a:p>
        </p:txBody>
      </p:sp>
      <p:pic>
        <p:nvPicPr>
          <p:cNvPr id="5" name="Picture 4" descr="rooma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4325" y="0"/>
            <a:ext cx="1714500" cy="1714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Overview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7124700" y="1064716"/>
            <a:ext cx="4328160" cy="3817888"/>
          </a:xfrm>
          <a:prstGeom prst="roundRect">
            <a:avLst>
              <a:gd name="adj" fmla="val 1351"/>
            </a:avLst>
          </a:prstGeom>
          <a:solidFill>
            <a:srgbClr val="EAF2FF"/>
          </a:solidFill>
          <a:ln w="12700">
            <a:solidFill>
              <a:srgbClr val="BBD0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627620" y="1362456"/>
            <a:ext cx="3192780" cy="31089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Summary</a:t>
            </a:r>
            <a:endParaRPr lang="en-US" sz="28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459980" y="2011680"/>
            <a:ext cx="35280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beginner-friendly internship focused on Cloud Computing and Networking with practical hands-on projects and industry tools.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39140" y="1073150"/>
            <a:ext cx="6103620" cy="5362575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40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Role: </a:t>
            </a:r>
            <a:r>
              <a: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Cloud and Network Intern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Duration: 4 Months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Mode: Internship Training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400">
                <a:solidFill>
                  <a:srgbClr val="2563EB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Focused Areas: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Cloud Computing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Networking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Linux Administration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• Automation</a:t>
            </a: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sz="2400">
              <a:sym typeface="+mn-ea"/>
            </a:endParaRPr>
          </a:p>
          <a:p>
            <a:pPr marR="0" lvl="0" indent="0" algn="l" defTabSz="914400" rtl="0" eaLnBrk="1" fontAlgn="base" latinLnBrk="0" hangingPunct="1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br>
              <a:rPr sz="2400">
                <a:sym typeface="+mn-ea"/>
              </a:rPr>
            </a:b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90" y="0"/>
            <a:ext cx="12188952" cy="7772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050"/>
            <a:ext cx="7772400" cy="45656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Description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1645920"/>
            <a:ext cx="11353800" cy="429768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Cloud Computing and Networking concepts and technologies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practical knowledge of server management and network configuration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industry tools and cloud platforms through hands-on tasks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confidence to solve real-world IT infrastructure challenges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68680" y="4846320"/>
            <a:ext cx="102412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32180" y="5074920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altLang="en-US" sz="2400" b="1" dirty="0">
              <a:solidFill>
                <a:srgbClr val="2563E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and Skills Using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>
            <p:custDataLst>
              <p:tags r:id="rId1"/>
            </p:custDataLst>
          </p:nvPr>
        </p:nvSpPr>
        <p:spPr>
          <a:xfrm>
            <a:off x="822960" y="1425575"/>
            <a:ext cx="2834640" cy="1508760"/>
          </a:xfrm>
          <a:prstGeom prst="roundRect">
            <a:avLst>
              <a:gd name="adj" fmla="val 2424"/>
            </a:avLst>
          </a:prstGeom>
          <a:solidFill>
            <a:srgbClr val="EEF4FF"/>
          </a:solidFill>
          <a:ln w="12700">
            <a:solidFill>
              <a:srgbClr val="C9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>
            <p:custDataLst>
              <p:tags r:id="rId2"/>
            </p:custDataLst>
          </p:nvPr>
        </p:nvSpPr>
        <p:spPr>
          <a:xfrm>
            <a:off x="1005840" y="1600200"/>
            <a:ext cx="2468880" cy="108331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Linux Operating 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>
            <p:custDataLst>
              <p:tags r:id="rId3"/>
            </p:custDataLst>
          </p:nvPr>
        </p:nvSpPr>
        <p:spPr>
          <a:xfrm>
            <a:off x="1005840" y="20574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7" name="Shape 5"/>
          <p:cNvSpPr/>
          <p:nvPr>
            <p:custDataLst>
              <p:tags r:id="rId4"/>
            </p:custDataLst>
          </p:nvPr>
        </p:nvSpPr>
        <p:spPr>
          <a:xfrm>
            <a:off x="4160520" y="1425575"/>
            <a:ext cx="2834640" cy="1508760"/>
          </a:xfrm>
          <a:prstGeom prst="roundRect">
            <a:avLst>
              <a:gd name="adj" fmla="val 2424"/>
            </a:avLst>
          </a:prstGeom>
          <a:solidFill>
            <a:srgbClr val="F8FBFF"/>
          </a:solidFill>
          <a:ln w="12700">
            <a:solidFill>
              <a:srgbClr val="C9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>
            <p:custDataLst>
              <p:tags r:id="rId5"/>
            </p:custDataLst>
          </p:nvPr>
        </p:nvSpPr>
        <p:spPr>
          <a:xfrm>
            <a:off x="4343400" y="1600200"/>
            <a:ext cx="2468880" cy="1087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AWS S3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7"/>
          <p:cNvSpPr/>
          <p:nvPr>
            <p:custDataLst>
              <p:tags r:id="rId6"/>
            </p:custDataLst>
          </p:nvPr>
        </p:nvSpPr>
        <p:spPr>
          <a:xfrm>
            <a:off x="4343400" y="20574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0" name="Shape 8"/>
          <p:cNvSpPr/>
          <p:nvPr>
            <p:custDataLst>
              <p:tags r:id="rId7"/>
            </p:custDataLst>
          </p:nvPr>
        </p:nvSpPr>
        <p:spPr>
          <a:xfrm>
            <a:off x="7498080" y="1371600"/>
            <a:ext cx="2834640" cy="1508760"/>
          </a:xfrm>
          <a:prstGeom prst="roundRect">
            <a:avLst>
              <a:gd name="adj" fmla="val 2424"/>
            </a:avLst>
          </a:prstGeom>
          <a:solidFill>
            <a:srgbClr val="EEF4FF"/>
          </a:solidFill>
          <a:ln w="12700">
            <a:solidFill>
              <a:srgbClr val="C9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>
            <p:custDataLst>
              <p:tags r:id="rId8"/>
            </p:custDataLst>
          </p:nvPr>
        </p:nvSpPr>
        <p:spPr>
          <a:xfrm>
            <a:off x="7680960" y="160020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2" name="Text 10"/>
          <p:cNvSpPr/>
          <p:nvPr>
            <p:custDataLst>
              <p:tags r:id="rId9"/>
            </p:custDataLst>
          </p:nvPr>
        </p:nvSpPr>
        <p:spPr>
          <a:xfrm>
            <a:off x="7680960" y="1528445"/>
            <a:ext cx="2468880" cy="113157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Git</a:t>
            </a:r>
            <a:r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&amp;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SSH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11"/>
          <p:cNvSpPr/>
          <p:nvPr>
            <p:custDataLst>
              <p:tags r:id="rId10"/>
            </p:custDataLst>
          </p:nvPr>
        </p:nvSpPr>
        <p:spPr>
          <a:xfrm>
            <a:off x="2555875" y="3676015"/>
            <a:ext cx="2834640" cy="1508760"/>
          </a:xfrm>
          <a:prstGeom prst="roundRect">
            <a:avLst>
              <a:gd name="adj" fmla="val 2424"/>
            </a:avLst>
          </a:prstGeom>
          <a:solidFill>
            <a:srgbClr val="F8FBFF"/>
          </a:solidFill>
          <a:ln w="12700">
            <a:solidFill>
              <a:srgbClr val="C9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>
            <p:custDataLst>
              <p:tags r:id="rId11"/>
            </p:custDataLst>
          </p:nvPr>
        </p:nvSpPr>
        <p:spPr>
          <a:xfrm>
            <a:off x="1005840" y="388620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15" name="Text 13"/>
          <p:cNvSpPr/>
          <p:nvPr>
            <p:custDataLst>
              <p:tags r:id="rId12"/>
            </p:custDataLst>
          </p:nvPr>
        </p:nvSpPr>
        <p:spPr>
          <a:xfrm>
            <a:off x="2738755" y="3738880"/>
            <a:ext cx="2468880" cy="13893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Networking Devices</a:t>
            </a:r>
            <a:b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/>
          <p:cNvSpPr/>
          <p:nvPr>
            <p:custDataLst>
              <p:tags r:id="rId13"/>
            </p:custDataLst>
          </p:nvPr>
        </p:nvSpPr>
        <p:spPr>
          <a:xfrm>
            <a:off x="6307455" y="3647440"/>
            <a:ext cx="2834640" cy="1508760"/>
          </a:xfrm>
          <a:prstGeom prst="roundRect">
            <a:avLst>
              <a:gd name="adj" fmla="val 2424"/>
            </a:avLst>
          </a:prstGeom>
          <a:solidFill>
            <a:srgbClr val="EEF4FF"/>
          </a:solidFill>
          <a:ln w="12700">
            <a:solidFill>
              <a:srgbClr val="C9DA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>
            <p:custDataLst>
              <p:tags r:id="rId14"/>
            </p:custDataLst>
          </p:nvPr>
        </p:nvSpPr>
        <p:spPr>
          <a:xfrm>
            <a:off x="6490335" y="3701415"/>
            <a:ext cx="2468880" cy="138747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sz="24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DNS Configuration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6"/>
          <p:cNvSpPr/>
          <p:nvPr>
            <p:custDataLst>
              <p:tags r:id="rId15"/>
            </p:custDataLst>
          </p:nvPr>
        </p:nvSpPr>
        <p:spPr>
          <a:xfrm>
            <a:off x="4343400" y="4343400"/>
            <a:ext cx="246888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20" name="Text 18"/>
          <p:cNvSpPr/>
          <p:nvPr>
            <p:custDataLst>
              <p:tags r:id="rId16"/>
            </p:custDataLst>
          </p:nvPr>
        </p:nvSpPr>
        <p:spPr>
          <a:xfrm>
            <a:off x="7680960" y="3886200"/>
            <a:ext cx="24688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21" name="Text 19"/>
          <p:cNvSpPr/>
          <p:nvPr>
            <p:custDataLst>
              <p:tags r:id="rId17"/>
            </p:custDataLst>
          </p:nvPr>
        </p:nvSpPr>
        <p:spPr>
          <a:xfrm>
            <a:off x="7680960" y="3741420"/>
            <a:ext cx="2468880" cy="1341755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sz="24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Responsibilities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424160" cy="475488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cloud infrastructure and network configuration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with servers, networking tools, and cloud platforms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 in system management and troubleshooting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technical skills using industry best practices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lnSpc>
                <a:spcPct val="150000"/>
              </a:lnSpc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modern Cloud Computing and Networking technologies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11556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Web Development Internship Presentation  | 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5836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Outcomes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167640" y="2057400"/>
            <a:ext cx="8061960" cy="438912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Cloud Computing and Networking concepts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troubleshooting and problem-solving skills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server management and network configuration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 hands-on experience with practical implementation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Become more job-ready for entry-level IT and networking roles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229600" y="1600200"/>
            <a:ext cx="3291840" cy="3474720"/>
          </a:xfrm>
          <a:prstGeom prst="roundRect">
            <a:avLst>
              <a:gd name="adj" fmla="val 138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854440" y="1828800"/>
            <a:ext cx="155448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6A34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8397240" y="2377440"/>
            <a:ext cx="246888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Practical knowledge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 projects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Portfolio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20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Career readiness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1155680" cy="16459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</a:rPr>
              <a:t>Web Development Internship Presentation  | 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internship includes project-based learning to solve real-world problems.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35280" y="1737360"/>
            <a:ext cx="6248400" cy="420624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and manage cloud and networking tasks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cloud and network concepts in practical activities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 troubleshooting, testing, and system monitoring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7800" indent="-177800">
              <a:buSzPct val="10000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 how real-time IT infrastructure projects are managed and implemented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132320" y="1645920"/>
            <a:ext cx="4023360" cy="3474720"/>
          </a:xfrm>
          <a:prstGeom prst="roundRect">
            <a:avLst>
              <a:gd name="adj" fmla="val 1316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0" y="1965960"/>
            <a:ext cx="3108960" cy="228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EA58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Project Areas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35875" y="2651760"/>
            <a:ext cx="3490595" cy="16459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setup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configuration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management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troubleshooting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alt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Website Hosting Using AWS S3</a:t>
            </a:r>
            <a:endParaRPr lang="en-US" alt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53440" y="1104180"/>
            <a:ext cx="10424160" cy="5205663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Description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is a cloud-based static website hosting implementation developed using Amazon AWS S3, HTML, and CSS.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was designed to understand cloud deployment, serverless website hosting, and cloud storage management.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focused on: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website hosting using AWS S3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configuration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access and bucket policy management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deployment and testing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cloud security and access control concepts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521208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4572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FEATURES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952552"/>
            <a:ext cx="10698480" cy="5569017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of the Application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AWS S3 bucket creation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website hosting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file upload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Public access configuration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Bucket policy management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testing through S3 endpoint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management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security and access control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14400" y="5212080"/>
            <a:ext cx="100584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90503"/>
            <a:ext cx="10972800" cy="205738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 Done </a:t>
            </a:r>
            <a:endParaRPr lang="en-US" sz="2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8"/>
          <p:cNvSpPr>
            <a:spLocks noGrp="1" noChangeArrowheads="1"/>
          </p:cNvSpPr>
          <p:nvPr>
            <p:ph idx="1"/>
          </p:nvPr>
        </p:nvSpPr>
        <p:spPr bwMode="auto">
          <a:xfrm>
            <a:off x="458774" y="2753995"/>
            <a:ext cx="11733226" cy="10147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hangingPunct="0">
              <a:lnSpc>
                <a:spcPct val="150000"/>
              </a:lnSpc>
              <a:spcBef>
                <a:spcPct val="0"/>
              </a:spcBef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>
            <a:r>
              <a:rPr lang="en-US" altLang="en-US"/>
              <a:t>lementation</a:t>
            </a:r>
            <a:endParaRPr lang="en-US"/>
          </a:p>
        </p:txBody>
      </p:sp>
      <p:pic>
        <p:nvPicPr>
          <p:cNvPr id="8" name="Picture 7" descr="Screenshot 2026-03-24 11133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3175" y="717550"/>
            <a:ext cx="12192000" cy="5787390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92710" y="0"/>
            <a:ext cx="643509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Implementation</a:t>
            </a:r>
            <a:r>
              <a:rPr lang="en-IN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- 01</a:t>
            </a:r>
            <a:endParaRPr lang="en-IN" alt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889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1234440"/>
            <a:ext cx="10241280" cy="4572000"/>
          </a:xfrm>
          <a:prstGeom prst="rect">
            <a:avLst/>
          </a:prstGeom>
          <a:noFill/>
        </p:spPr>
        <p:txBody>
          <a:bodyPr wrap="square" lIns="635" tIns="635" rIns="635" bIns="635" rtlCol="0" anchor="t"/>
          <a:lstStyle/>
          <a:p>
            <a:pPr marL="177800" indent="-177800">
              <a:lnSpc>
                <a:spcPct val="150000"/>
              </a:lnSpc>
              <a:buSzPct val="100000"/>
              <a:buChar char="•"/>
            </a:pPr>
            <a:endParaRPr lang="en-US" sz="2400" dirty="0"/>
          </a:p>
        </p:txBody>
      </p:sp>
      <p:sp>
        <p:nvSpPr>
          <p:cNvPr id="5" name="Text Box 4"/>
          <p:cNvSpPr txBox="1"/>
          <p:nvPr/>
        </p:nvSpPr>
        <p:spPr>
          <a:xfrm>
            <a:off x="78740" y="0"/>
            <a:ext cx="613346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Implementation</a:t>
            </a:r>
            <a:r>
              <a:rPr lang="en-IN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- 02</a:t>
            </a:r>
            <a:endParaRPr lang="en-IN" alt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</p:txBody>
      </p:sp>
      <p:pic>
        <p:nvPicPr>
          <p:cNvPr id="6" name="Picture 5" descr="Screenshot 2026-03-24 1121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01040"/>
            <a:ext cx="12192000" cy="58026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-889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42240" y="0"/>
            <a:ext cx="5577840" cy="61722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Implementation</a:t>
            </a:r>
            <a:r>
              <a:rPr lang="en-IN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- 03</a:t>
            </a:r>
            <a:endParaRPr lang="en-IN" alt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Screenshot 2026-03-24 11390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2065" y="714375"/>
            <a:ext cx="12192000" cy="57759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creenshot 2026-03-24 11514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40715"/>
            <a:ext cx="12192000" cy="290893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8890" y="0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>
            <a:endParaRPr lang="en-US"/>
          </a:p>
        </p:txBody>
      </p:sp>
      <p:sp>
        <p:nvSpPr>
          <p:cNvPr id="4" name="Text Box 3"/>
          <p:cNvSpPr txBox="1"/>
          <p:nvPr/>
        </p:nvSpPr>
        <p:spPr>
          <a:xfrm>
            <a:off x="69215" y="0"/>
            <a:ext cx="6169660" cy="6407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Project Implementation</a:t>
            </a:r>
            <a:r>
              <a:rPr lang="en-IN" alt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- 04</a:t>
            </a:r>
            <a:endParaRPr lang="en-IN" altLang="en-US" sz="28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132715" y="3650615"/>
            <a:ext cx="10802620" cy="29749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buFont typeface="Arial" panose="020B0604020202020204" pitchFamily="34" charset="0"/>
              <a:buNone/>
            </a:pPr>
            <a:r>
              <a:rPr lang="en-US" alt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Outcome of the Program</a:t>
            </a:r>
            <a:endParaRPr lang="en-US" altLang="en-US" sz="24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hosted website using AWS S3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Learned cloud deployment concepts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Gained hands-on AWS experience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Improved website hosting skills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048" y="-23662"/>
            <a:ext cx="12188952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46304"/>
            <a:ext cx="7772400" cy="256032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Summary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398270"/>
            <a:ext cx="10424160" cy="4206240"/>
          </a:xfrm>
          <a:prstGeom prst="roundRect">
            <a:avLst>
              <a:gd name="adj" fmla="val 1087"/>
            </a:avLst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280160" y="2011680"/>
            <a:ext cx="9509760" cy="2011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focuses on Cloud Computing, Networking, AWS services, and practical technical skills for entry-level IT roles.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52204" y="2568736"/>
            <a:ext cx="5547360" cy="1194493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2563EB"/>
                </a:solidFill>
                <a:latin typeface="Constantia" panose="02030602050306030303" pitchFamily="18" charset="0"/>
              </a:rPr>
              <a:t>Thank You</a:t>
            </a:r>
            <a:endParaRPr lang="en-US" sz="6000" dirty="0">
              <a:solidFill>
                <a:srgbClr val="2563EB"/>
              </a:solidFill>
              <a:latin typeface="Constantia" panose="02030602050306030303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4008646" y="3108960"/>
            <a:ext cx="6400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032760" y="3855720"/>
            <a:ext cx="612648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2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3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4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5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6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7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8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9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0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1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2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3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4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5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6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ags/tag17.xml><?xml version="1.0" encoding="utf-8"?>
<p:tagLst xmlns:p="http://schemas.openxmlformats.org/presentationml/2006/main">
  <p:tag name="KSO_WM_DIAGRAM_VIRTUALLY_FRAME" val="{&quot;height&quot;:298.8,&quot;left&quot;:64.8,&quot;top&quot;:108,&quot;width&quot;:748.8}"/>
</p:tagLst>
</file>

<file path=ppt/theme/theme1.xml><?xml version="1.0" encoding="utf-8"?>
<a:theme xmlns:a="http://schemas.openxmlformats.org/drawingml/2006/main" name="Metropolitan">
  <a:themeElements>
    <a:clrScheme name="Metropolitan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50B4C8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TM03457491[[fn=Metropolitan]]</Template>
  <TotalTime>0</TotalTime>
  <Words>4225</Words>
  <Application>WPS Presentation</Application>
  <PresentationFormat>Widescreen</PresentationFormat>
  <Paragraphs>169</Paragraphs>
  <Slides>16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SimSun</vt:lpstr>
      <vt:lpstr>Wingdings</vt:lpstr>
      <vt:lpstr>Cambria Math</vt:lpstr>
      <vt:lpstr>Times New Roman</vt:lpstr>
      <vt:lpstr>Times New Roman</vt:lpstr>
      <vt:lpstr>Arial</vt:lpstr>
      <vt:lpstr>Constantia</vt:lpstr>
      <vt:lpstr>Calibri Light</vt:lpstr>
      <vt:lpstr>Arial Unicode MS</vt:lpstr>
      <vt:lpstr>Calibri</vt:lpstr>
      <vt:lpstr>Microsoft YaHei</vt:lpstr>
      <vt:lpstr>Metropolitan</vt:lpstr>
      <vt:lpstr>   VISVESVARAYA TECHNOLOGICAL UNIVERSITY        BHEEMANNA KHANDRE INSTITUTE OF TECHNOLOGY     DEPARTMENT OF ELECTONICS &amp; COMMUNICATION ENGINEERING         BHALKI-585 328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Work Done So Far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OpenAI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 Development Intern (Entry Level)</dc:title>
  <dc:creator>OpenAI</dc:creator>
  <dc:subject>Web Development Internship Presentation</dc:subject>
  <cp:lastModifiedBy>Amaan Ali</cp:lastModifiedBy>
  <cp:revision>29</cp:revision>
  <dcterms:created xsi:type="dcterms:W3CDTF">2026-04-13T22:10:00Z</dcterms:created>
  <dcterms:modified xsi:type="dcterms:W3CDTF">2026-05-14T17:58:06Z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5FA30BCA05E24B04B8C854239CA4D747_13</vt:lpwstr>
  </property>
  <property fmtid="{D5CDD505-2E9C-101B-9397-08002B2CF9AE}" pid="3" name="KSOProductBuildVer">
    <vt:lpwstr>1033-12.2.0.21931</vt:lpwstr>
  </property>
</Properties>
</file>